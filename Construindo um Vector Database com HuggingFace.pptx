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</p:sldIdLst>
  <p:sldSz cy="8229600" cx="14630400"/>
  <p:notesSz cx="8229600" cy="14630400"/>
  <p:embeddedFontLst>
    <p:embeddedFont>
      <p:font typeface="Raleway"/>
      <p:regular r:id="rId8"/>
      <p:bold r:id="rId9"/>
      <p:italic r:id="rId10"/>
      <p:boldItalic r:id="rId11"/>
    </p:embeddedFont>
    <p:embeddedFont>
      <p:font typeface="Comforta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Comfortaa-bold.fntdata"/><Relationship Id="rId12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/>
          <p:nvPr/>
        </p:nvSpPr>
        <p:spPr>
          <a:xfrm>
            <a:off x="6350437" y="2505908"/>
            <a:ext cx="741592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Construindo um Vector Database com HuggingFace</a:t>
            </a:r>
            <a:endParaRPr b="0" i="0" sz="4300" u="none" cap="none" strike="noStrike"/>
          </a:p>
        </p:txBody>
      </p:sp>
      <p:sp>
        <p:nvSpPr>
          <p:cNvPr id="30" name="Google Shape;30;p6"/>
          <p:cNvSpPr/>
          <p:nvPr/>
        </p:nvSpPr>
        <p:spPr>
          <a:xfrm>
            <a:off x="6350437" y="4933593"/>
            <a:ext cx="7415927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Transforme textos em vetores e crie buscas semânticas inteligentes usando modelos de embedding e FAISS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/>
          <p:nvPr/>
        </p:nvSpPr>
        <p:spPr>
          <a:xfrm>
            <a:off x="6227088" y="749737"/>
            <a:ext cx="6015157" cy="587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700"/>
              <a:buFont typeface="Comfortaa"/>
              <a:buNone/>
            </a:pPr>
            <a:r>
              <a:rPr b="1" i="0" lang="en-US" sz="37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Componentes Principais</a:t>
            </a:r>
            <a:endParaRPr b="0" i="0" sz="3700" u="none" cap="none" strike="noStrike"/>
          </a:p>
        </p:txBody>
      </p:sp>
      <p:sp>
        <p:nvSpPr>
          <p:cNvPr id="38" name="Google Shape;38;p7"/>
          <p:cNvSpPr/>
          <p:nvPr/>
        </p:nvSpPr>
        <p:spPr>
          <a:xfrm>
            <a:off x="6227088" y="1654969"/>
            <a:ext cx="3725466" cy="3584377"/>
          </a:xfrm>
          <a:prstGeom prst="roundRect">
            <a:avLst>
              <a:gd fmla="val 8857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6438662" y="1866543"/>
            <a:ext cx="634841" cy="634841"/>
          </a:xfrm>
          <a:prstGeom prst="roundRect">
            <a:avLst>
              <a:gd fmla="val 144021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3207" y="2041088"/>
            <a:ext cx="285631" cy="28563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>
            <a:off x="6438662" y="2712958"/>
            <a:ext cx="2784872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50"/>
              <a:buFont typeface="Comfortaa"/>
              <a:buNone/>
            </a:pPr>
            <a:r>
              <a:rPr b="1" i="0" lang="en-US" sz="18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Modelo de Embedding</a:t>
            </a:r>
            <a:endParaRPr b="0" i="0" sz="1850" u="none" cap="none" strike="noStrike"/>
          </a:p>
        </p:txBody>
      </p:sp>
      <p:sp>
        <p:nvSpPr>
          <p:cNvPr id="42" name="Google Shape;42;p7"/>
          <p:cNvSpPr/>
          <p:nvPr/>
        </p:nvSpPr>
        <p:spPr>
          <a:xfrm>
            <a:off x="6438662" y="3133725"/>
            <a:ext cx="3302318" cy="677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Transformers da HuggingFace convertem texto em vetores</a:t>
            </a:r>
            <a:endParaRPr b="0" i="0" sz="1650" u="none" cap="none" strike="noStrike"/>
          </a:p>
        </p:txBody>
      </p:sp>
      <p:sp>
        <p:nvSpPr>
          <p:cNvPr id="43" name="Google Shape;43;p7"/>
          <p:cNvSpPr/>
          <p:nvPr/>
        </p:nvSpPr>
        <p:spPr>
          <a:xfrm>
            <a:off x="6438662" y="3937873"/>
            <a:ext cx="3302318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Raleway"/>
              <a:buChar char="•"/>
            </a:pPr>
            <a:r>
              <a:rPr b="0" i="0" lang="en-US" sz="16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all-MiniLM-L6-v2</a:t>
            </a:r>
            <a:endParaRPr b="0" i="0" sz="1650" u="none" cap="none" strike="noStrike"/>
          </a:p>
        </p:txBody>
      </p:sp>
      <p:sp>
        <p:nvSpPr>
          <p:cNvPr id="44" name="Google Shape;44;p7"/>
          <p:cNvSpPr/>
          <p:nvPr/>
        </p:nvSpPr>
        <p:spPr>
          <a:xfrm>
            <a:off x="6438662" y="4350544"/>
            <a:ext cx="3302318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Raleway"/>
              <a:buChar char="•"/>
            </a:pPr>
            <a:r>
              <a:rPr b="0" i="0" lang="en-US" sz="16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multi-qa-mpnet-base-dot-v1</a:t>
            </a:r>
            <a:endParaRPr b="0" i="0" sz="1650" u="none" cap="none" strike="noStrike"/>
          </a:p>
        </p:txBody>
      </p:sp>
      <p:sp>
        <p:nvSpPr>
          <p:cNvPr id="45" name="Google Shape;45;p7"/>
          <p:cNvSpPr/>
          <p:nvPr/>
        </p:nvSpPr>
        <p:spPr>
          <a:xfrm>
            <a:off x="10164128" y="1654969"/>
            <a:ext cx="3725585" cy="3584377"/>
          </a:xfrm>
          <a:prstGeom prst="roundRect">
            <a:avLst>
              <a:gd fmla="val 8857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10375702" y="1866543"/>
            <a:ext cx="634841" cy="634841"/>
          </a:xfrm>
          <a:prstGeom prst="roundRect">
            <a:avLst>
              <a:gd fmla="val 144021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0247" y="2041088"/>
            <a:ext cx="285631" cy="28563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10375702" y="2712958"/>
            <a:ext cx="2351603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50"/>
              <a:buFont typeface="Comfortaa"/>
              <a:buNone/>
            </a:pPr>
            <a:r>
              <a:rPr b="1" i="0" lang="en-US" sz="18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Base Vetorial</a:t>
            </a:r>
            <a:endParaRPr b="0" i="0" sz="1850" u="none" cap="none" strike="noStrike"/>
          </a:p>
        </p:txBody>
      </p:sp>
      <p:sp>
        <p:nvSpPr>
          <p:cNvPr id="49" name="Google Shape;49;p7"/>
          <p:cNvSpPr/>
          <p:nvPr/>
        </p:nvSpPr>
        <p:spPr>
          <a:xfrm>
            <a:off x="10375702" y="3133725"/>
            <a:ext cx="3302437" cy="677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FAISS armazena vetores + metadados para busca eficiente</a:t>
            </a:r>
            <a:endParaRPr b="0" i="0" sz="1650" u="none" cap="none" strike="noStrike"/>
          </a:p>
        </p:txBody>
      </p:sp>
      <p:sp>
        <p:nvSpPr>
          <p:cNvPr id="50" name="Google Shape;50;p7"/>
          <p:cNvSpPr/>
          <p:nvPr/>
        </p:nvSpPr>
        <p:spPr>
          <a:xfrm>
            <a:off x="10375702" y="3937873"/>
            <a:ext cx="3302437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Raleway"/>
              <a:buChar char="•"/>
            </a:pPr>
            <a:r>
              <a:rPr b="0" i="0" lang="en-US" sz="16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Nearest Neighbors</a:t>
            </a:r>
            <a:endParaRPr b="0" i="0" sz="1650" u="none" cap="none" strike="noStrike"/>
          </a:p>
        </p:txBody>
      </p:sp>
      <p:sp>
        <p:nvSpPr>
          <p:cNvPr id="51" name="Google Shape;51;p7"/>
          <p:cNvSpPr/>
          <p:nvPr/>
        </p:nvSpPr>
        <p:spPr>
          <a:xfrm>
            <a:off x="10375702" y="4350544"/>
            <a:ext cx="3302437" cy="677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Raleway"/>
              <a:buChar char="•"/>
            </a:pPr>
            <a:r>
              <a:rPr b="0" i="0" lang="en-US" sz="16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Alternativas: ChromaDB, Milvus</a:t>
            </a:r>
            <a:endParaRPr b="0" i="0" sz="1650" u="none" cap="none" strike="noStrike"/>
          </a:p>
        </p:txBody>
      </p:sp>
      <p:sp>
        <p:nvSpPr>
          <p:cNvPr id="52" name="Google Shape;52;p7"/>
          <p:cNvSpPr/>
          <p:nvPr/>
        </p:nvSpPr>
        <p:spPr>
          <a:xfrm>
            <a:off x="6227088" y="5450919"/>
            <a:ext cx="7662624" cy="2028944"/>
          </a:xfrm>
          <a:prstGeom prst="roundRect">
            <a:avLst>
              <a:gd fmla="val 15647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6438662" y="5662493"/>
            <a:ext cx="634841" cy="634841"/>
          </a:xfrm>
          <a:prstGeom prst="roundRect">
            <a:avLst>
              <a:gd fmla="val 144021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3207" y="5837039"/>
            <a:ext cx="285631" cy="28563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6438662" y="6508909"/>
            <a:ext cx="2351603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50"/>
              <a:buFont typeface="Comfortaa"/>
              <a:buNone/>
            </a:pPr>
            <a:r>
              <a:rPr b="1" i="0" lang="en-US" sz="18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Pipeline de Uso</a:t>
            </a:r>
            <a:endParaRPr b="0" i="0" sz="1850" u="none" cap="none" strike="noStrike"/>
          </a:p>
        </p:txBody>
      </p:sp>
      <p:sp>
        <p:nvSpPr>
          <p:cNvPr id="56" name="Google Shape;56;p7"/>
          <p:cNvSpPr/>
          <p:nvPr/>
        </p:nvSpPr>
        <p:spPr>
          <a:xfrm>
            <a:off x="6438662" y="6929676"/>
            <a:ext cx="7239476" cy="338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Coleta → Embeddings → Indexação → Consulta → RAG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24730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/>
          <p:nvPr/>
        </p:nvSpPr>
        <p:spPr>
          <a:xfrm>
            <a:off x="629245" y="2741652"/>
            <a:ext cx="6285905" cy="499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100"/>
              <a:buFont typeface="Comfortaa"/>
              <a:buNone/>
            </a:pPr>
            <a:r>
              <a:rPr b="1" i="0" lang="en-US" sz="31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Implementação Passo a Passo</a:t>
            </a:r>
            <a:endParaRPr b="0" i="0" sz="3100" u="none" cap="none" strike="noStrike"/>
          </a:p>
        </p:txBody>
      </p:sp>
      <p:sp>
        <p:nvSpPr>
          <p:cNvPr id="64" name="Google Shape;64;p8"/>
          <p:cNvSpPr/>
          <p:nvPr/>
        </p:nvSpPr>
        <p:spPr>
          <a:xfrm>
            <a:off x="629245" y="3690580"/>
            <a:ext cx="1997631" cy="249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550"/>
              <a:buFont typeface="Comfortaa"/>
              <a:buNone/>
            </a:pPr>
            <a:r>
              <a:rPr b="1" i="0" lang="en-US" sz="15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Stack Tecnológico</a:t>
            </a:r>
            <a:endParaRPr b="0" i="0" sz="1550" u="none" cap="none" strike="noStrike"/>
          </a:p>
        </p:txBody>
      </p:sp>
      <p:sp>
        <p:nvSpPr>
          <p:cNvPr id="65" name="Google Shape;65;p8"/>
          <p:cNvSpPr/>
          <p:nvPr/>
        </p:nvSpPr>
        <p:spPr>
          <a:xfrm>
            <a:off x="629245" y="412003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sentence-transformers</a:t>
            </a:r>
            <a:endParaRPr b="0" i="0" sz="1400" u="none" cap="none" strike="noStrike"/>
          </a:p>
        </p:txBody>
      </p:sp>
      <p:sp>
        <p:nvSpPr>
          <p:cNvPr id="66" name="Google Shape;66;p8"/>
          <p:cNvSpPr/>
          <p:nvPr/>
        </p:nvSpPr>
        <p:spPr>
          <a:xfrm>
            <a:off x="629245" y="447055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faiss-cpu</a:t>
            </a:r>
            <a:endParaRPr b="0" i="0" sz="1400" u="none" cap="none" strike="noStrike"/>
          </a:p>
        </p:txBody>
      </p:sp>
      <p:sp>
        <p:nvSpPr>
          <p:cNvPr id="67" name="Google Shape;67;p8"/>
          <p:cNvSpPr/>
          <p:nvPr/>
        </p:nvSpPr>
        <p:spPr>
          <a:xfrm>
            <a:off x="629245" y="482107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FastAPI (opcional)</a:t>
            </a:r>
            <a:endParaRPr b="0" i="0" sz="1400" u="none" cap="none" strike="noStrike"/>
          </a:p>
        </p:txBody>
      </p:sp>
      <p:sp>
        <p:nvSpPr>
          <p:cNvPr id="68" name="Google Shape;68;p8"/>
          <p:cNvSpPr/>
          <p:nvPr/>
        </p:nvSpPr>
        <p:spPr>
          <a:xfrm>
            <a:off x="629245" y="517159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LangChain (opcional)</a:t>
            </a:r>
            <a:endParaRPr b="0" i="0" sz="1400" u="none" cap="none" strike="noStrike"/>
          </a:p>
        </p:txBody>
      </p:sp>
      <p:sp>
        <p:nvSpPr>
          <p:cNvPr id="69" name="Google Shape;69;p8"/>
          <p:cNvSpPr/>
          <p:nvPr/>
        </p:nvSpPr>
        <p:spPr>
          <a:xfrm>
            <a:off x="7542133" y="3690580"/>
            <a:ext cx="2088594" cy="249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550"/>
              <a:buFont typeface="Comfortaa"/>
              <a:buNone/>
            </a:pPr>
            <a:r>
              <a:rPr b="1" i="0" lang="en-US" sz="15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Arquitetura Simples</a:t>
            </a:r>
            <a:endParaRPr b="0" i="0" sz="1550" u="none" cap="none" strike="noStrike"/>
          </a:p>
        </p:txBody>
      </p:sp>
      <p:sp>
        <p:nvSpPr>
          <p:cNvPr id="70" name="Google Shape;70;p8"/>
          <p:cNvSpPr/>
          <p:nvPr/>
        </p:nvSpPr>
        <p:spPr>
          <a:xfrm>
            <a:off x="7542133" y="412003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data/ - textos base</a:t>
            </a:r>
            <a:endParaRPr b="0" i="0" sz="1400" u="none" cap="none" strike="noStrike"/>
          </a:p>
        </p:txBody>
      </p:sp>
      <p:sp>
        <p:nvSpPr>
          <p:cNvPr id="71" name="Google Shape;71;p8"/>
          <p:cNvSpPr/>
          <p:nvPr/>
        </p:nvSpPr>
        <p:spPr>
          <a:xfrm>
            <a:off x="7542133" y="447055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embeddings.py - geração</a:t>
            </a:r>
            <a:endParaRPr b="0" i="0" sz="1400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7542133" y="482107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vector_store/ - índice FAISS</a:t>
            </a:r>
            <a:endParaRPr b="0" i="0" sz="1400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7542133" y="5171599"/>
            <a:ext cx="6466642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Char char="•"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app.py - consultas</a:t>
            </a:r>
            <a:endParaRPr b="0" i="0" sz="1400" u="none" cap="none" strike="noStrike"/>
          </a:p>
        </p:txBody>
      </p:sp>
      <p:pic>
        <p:nvPicPr>
          <p:cNvPr descr="preencoded.png"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245" y="5724287"/>
            <a:ext cx="4457224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809030" y="6623209"/>
            <a:ext cx="1997631" cy="249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Comfortaa"/>
              <a:buNone/>
            </a:pPr>
            <a:r>
              <a:rPr b="1" i="0" lang="en-US" sz="15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Gerar Embeddings</a:t>
            </a:r>
            <a:endParaRPr b="0" i="0" sz="1550" u="none" cap="none" strike="noStrike"/>
          </a:p>
        </p:txBody>
      </p:sp>
      <p:sp>
        <p:nvSpPr>
          <p:cNvPr id="76" name="Google Shape;76;p8"/>
          <p:cNvSpPr/>
          <p:nvPr/>
        </p:nvSpPr>
        <p:spPr>
          <a:xfrm>
            <a:off x="809030" y="6980753"/>
            <a:ext cx="4097655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SentenceTransformer.encode transforma textos em vetores numpy</a:t>
            </a:r>
            <a:endParaRPr b="0" i="0" sz="1400" u="none" cap="none" strike="noStrike"/>
          </a:p>
        </p:txBody>
      </p:sp>
      <p:pic>
        <p:nvPicPr>
          <p:cNvPr descr="preencoded.png" id="77" name="Google Shape;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6469" y="5724287"/>
            <a:ext cx="4457343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/>
          <p:nvPr/>
        </p:nvSpPr>
        <p:spPr>
          <a:xfrm>
            <a:off x="5266253" y="6623209"/>
            <a:ext cx="1997631" cy="249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Comfortaa"/>
              <a:buNone/>
            </a:pPr>
            <a:r>
              <a:rPr b="1" i="0" lang="en-US" sz="15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Indexar FAISS</a:t>
            </a:r>
            <a:endParaRPr b="0" i="0" sz="1550" u="none" cap="none" strike="noStrike"/>
          </a:p>
        </p:txBody>
      </p:sp>
      <p:sp>
        <p:nvSpPr>
          <p:cNvPr id="79" name="Google Shape;79;p8"/>
          <p:cNvSpPr/>
          <p:nvPr/>
        </p:nvSpPr>
        <p:spPr>
          <a:xfrm>
            <a:off x="5266253" y="6980753"/>
            <a:ext cx="4097774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IndexFlatIP com normalização L2 para similaridade de cosseno</a:t>
            </a:r>
            <a:endParaRPr b="0" i="0" sz="1400" u="none" cap="none" strike="noStrike"/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3812" y="5724287"/>
            <a:ext cx="4457224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9723596" y="6623209"/>
            <a:ext cx="1997631" cy="249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Comfortaa"/>
              <a:buNone/>
            </a:pPr>
            <a:r>
              <a:rPr b="1" i="0" lang="en-US" sz="15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Consultar</a:t>
            </a:r>
            <a:endParaRPr b="0" i="0" sz="1550" u="none" cap="none" strike="noStrike"/>
          </a:p>
        </p:txBody>
      </p:sp>
      <p:sp>
        <p:nvSpPr>
          <p:cNvPr id="82" name="Google Shape;82;p8"/>
          <p:cNvSpPr/>
          <p:nvPr/>
        </p:nvSpPr>
        <p:spPr>
          <a:xfrm>
            <a:off x="9723596" y="6980753"/>
            <a:ext cx="4097655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Busca top-k vetores similares e retorna textos correspondentes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